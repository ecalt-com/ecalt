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73152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6AF7"/>
                </a:solidFill>
              </a:rPr>
              <a:t>MANAGEMENT BRIEFING  ·  JUNE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E2E8F0"/>
                </a:solidFill>
              </a:rPr>
              <a:t>ECALT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7C6AF7"/>
                </a:solidFill>
              </a:rPr>
              <a:t>Turn Curiosity Into Capability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108960"/>
            <a:ext cx="1645920" cy="3810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An AI-powered personalised learning platform for kids, families, and lifelong learners.
Users type any question and receive a structured multi-step learning Journey —
delivered via real-time streaming conversation powered by state-of-the-art LLMs.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663440"/>
            <a:ext cx="256032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77316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7C6AF7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303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AI Providers
(Anthropic + OpenAI)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4663440"/>
            <a:ext cx="256032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477316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7C6AF7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52303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Payment Gateways
(Stripe + Razorpay)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4663440"/>
            <a:ext cx="256032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477316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7C6AF7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52303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Notification Channels
(Email + WhatsApp)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41080" y="4663440"/>
            <a:ext cx="256032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477316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7C6AF7"/>
                </a:solidFill>
              </a:rPr>
              <a:t>14+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52303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API Endpoint
Modules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45"/>
                </a:solidFill>
              </a:rPr>
              <a:t>ecalt.vercel.app  ·  ecalt-production.up.railway.app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6AF7"/>
                </a:solidFill>
              </a:rPr>
              <a:t>01 · 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0"/>
                </a:solidFill>
              </a:rPr>
              <a:t>What ECALT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FD1C5"/>
                </a:solidFill>
              </a:rPr>
              <a:t>"Ask any question, get a personalised AI-powered learning journey.
ECALT turns curiosity into capability for kids, families, and lifelong learners."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 user types any question or topic — the AI instantly generates a structured, multi-step Journey. Each step is an interactive AI conversation that teaches, tests, and tracks understanding. Progress is saved, gamified, and visualised as a Capability Passport.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</a:rPr>
              <a:t>Application 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</a:rPr>
              <a:t>Home  </a:t>
            </a:r>
            <a:r>
              <a:rPr sz="1100">
                <a:solidFill>
                  <a:srgbClr val="94A3B8"/>
                </a:solidFill>
              </a:rPr>
              <a:t>— Ask a question, get a Journey preview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</a:rPr>
              <a:t>Explore  </a:t>
            </a:r>
            <a:r>
              <a:rPr sz="1100">
                <a:solidFill>
                  <a:srgbClr val="94A3B8"/>
                </a:solidFill>
              </a:rPr>
              <a:t>— Curiosity-driven content discovery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</a:rPr>
              <a:t>Learn  </a:t>
            </a:r>
            <a:r>
              <a:rPr sz="1100">
                <a:solidFill>
                  <a:srgbClr val="94A3B8"/>
                </a:solidFill>
              </a:rPr>
              <a:t>— Daily Spark + AI conversation + knowledge map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</a:rPr>
              <a:t>Journey  </a:t>
            </a:r>
            <a:r>
              <a:rPr sz="1100">
                <a:solidFill>
                  <a:srgbClr val="94A3B8"/>
                </a:solidFill>
              </a:rPr>
              <a:t>— Structured step-by-step learning path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</a:rPr>
              <a:t>Journeys  </a:t>
            </a:r>
            <a:r>
              <a:rPr sz="1100">
                <a:solidFill>
                  <a:srgbClr val="94A3B8"/>
                </a:solidFill>
              </a:rPr>
              <a:t>— Library of all journeys (filterable &amp; searchable)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</a:rPr>
              <a:t>Passport  </a:t>
            </a:r>
            <a:r>
              <a:rPr sz="1100">
                <a:solidFill>
                  <a:srgbClr val="94A3B8"/>
                </a:solidFill>
              </a:rPr>
              <a:t>— Personal capability certificate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</a:rPr>
              <a:t>Mind Signature  </a:t>
            </a:r>
            <a:r>
              <a:rPr sz="1100">
                <a:solidFill>
                  <a:srgbClr val="94A3B8"/>
                </a:solidFill>
              </a:rPr>
              <a:t>— AI-generated learning constellation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</a:rPr>
              <a:t>Pricing  </a:t>
            </a:r>
            <a:r>
              <a:rPr sz="1100">
                <a:solidFill>
                  <a:srgbClr val="94A3B8"/>
                </a:solidFill>
              </a:rPr>
              <a:t>— Plan selector with coupon support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</a:rPr>
              <a:t>Profile  </a:t>
            </a:r>
            <a:r>
              <a:rPr sz="1100">
                <a:solidFill>
                  <a:srgbClr val="94A3B8"/>
                </a:solidFill>
              </a:rPr>
              <a:t>— Notification prefs, theme, account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</a:rPr>
              <a:t>Admin  </a:t>
            </a:r>
            <a:r>
              <a:rPr sz="1100">
                <a:solidFill>
                  <a:srgbClr val="94A3B8"/>
                </a:solidFill>
              </a:rPr>
              <a:t>— Analytics, budgets, coupons, users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46120"/>
            <a:ext cx="128016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6AF7"/>
                </a:solidFill>
              </a:rPr>
              <a:t>EdTech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3246120"/>
            <a:ext cx="128016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324612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D1C5"/>
                </a:solidFill>
              </a:rPr>
              <a:t>AI-Native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3246120"/>
            <a:ext cx="128016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324612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6AD55"/>
                </a:solidFill>
              </a:rPr>
              <a:t>Family-Safe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3246120"/>
            <a:ext cx="128016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324612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687B3"/>
                </a:solidFill>
              </a:rPr>
              <a:t>SaaS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6AF7"/>
                </a:solidFill>
              </a:rPr>
              <a:t>02 · 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</a:rPr>
              <a:t>What Users Can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65760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657600" cy="5486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234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2E8F0"/>
                </a:solidFill>
              </a:rPr>
              <a:t>🛤️ AI Journeys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0020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Type any topic → AI generates a multi-step Journey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Each step is an expandable AI-powered lesson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Progress persisted; completion overlay celebrates finish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Optimistic UI updates — steps feel instant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097280"/>
            <a:ext cx="365760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3657600" cy="54864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234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2E8F0"/>
                </a:solidFill>
              </a:rPr>
              <a:t>💬 Conversation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160020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Real-time SSE token-by-token AI streaming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Context preserved across conversation turns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Cliffhanger nudge fires when user goes idle mid-chat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Budget gate triggers upgrade prompt on exhaustion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097280"/>
            <a:ext cx="365760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097280"/>
            <a:ext cx="3657600" cy="54864"/>
          </a:xfrm>
          <a:prstGeom prst="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234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2E8F0"/>
                </a:solidFill>
              </a:rPr>
              <a:t>✨ Today's Spark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160020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Bite-sized AI-generated daily knowledge burst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Free tier: 5 sparks/session (DB-backed rate limiter)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Paid tier: unlimited sparks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Prominently featured on the Learn page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20440"/>
            <a:ext cx="365760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520440"/>
            <a:ext cx="3657600" cy="54864"/>
          </a:xfrm>
          <a:prstGeom prst="rect">
            <a:avLst/>
          </a:prstGeom>
          <a:solidFill>
            <a:srgbClr val="F68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657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2E8F0"/>
                </a:solidFill>
              </a:rPr>
              <a:t>🔭 Explore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402336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Free-text curiosity input → AI-curated step nodes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Anonymous users get session ID — no login wall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Same optimistic step-toggle pattern as Journeys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Great for discovery before committing to a full Journey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520440"/>
            <a:ext cx="365760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3520440"/>
            <a:ext cx="3657600" cy="54864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3657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2E8F0"/>
                </a:solidFill>
              </a:rPr>
              <a:t>🌌 Knowledge Universe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402336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Post-chat AI extracts named knowledge nodes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Nodes plotted as a visual constellation (D3)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User sees growing web of understood concepts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Unique visual of their expanding mental model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3520440"/>
            <a:ext cx="365760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3520440"/>
            <a:ext cx="3657600" cy="5486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2" y="3657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2E8F0"/>
                </a:solidFill>
              </a:rPr>
              <a:t>🪪 Capability Passport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402336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Structured summary of all completed Journeys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Publicly shareable learning portfolio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Acts as a verifiable capability record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Shareable with teachers, employers, or parents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6AF7"/>
                </a:solidFill>
              </a:rPr>
              <a:t>02 · CORE FEATURES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</a:rPr>
              <a:t>Deeper 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657600" cy="2468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657600" cy="54864"/>
          </a:xfrm>
          <a:prstGeom prst="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234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2E8F0"/>
                </a:solidFill>
              </a:rPr>
              <a:t>🧬 Mind Signature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00200"/>
            <a:ext cx="33832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AI analyses conversation history &amp; mastery data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Generates a unique constellation diagram of cognitive strengths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Covers multiple knowledge domains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Publicly verifiable; shareable URL; admin force-refresh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097280"/>
            <a:ext cx="3657600" cy="2468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3657600" cy="54864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234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2E8F0"/>
                </a:solidFill>
              </a:rPr>
              <a:t>📊 Progress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1600200"/>
            <a:ext cx="33832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Step-level completion tracked per user per Journey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Progress endpoint returns percentage completion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Passport aggregates all completed journeys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Cross-journey capability overview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097280"/>
            <a:ext cx="3657600" cy="2468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097280"/>
            <a:ext cx="3657600" cy="54864"/>
          </a:xfrm>
          <a:prstGeom prst="rect">
            <a:avLst/>
          </a:prstGeom>
          <a:solidFill>
            <a:srgbClr val="F68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234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2E8F0"/>
                </a:solidFill>
              </a:rPr>
              <a:t>🎨 Cosmic Home 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1600200"/>
            <a:ext cx="33832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Alternate immersive landing experience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Custom cursor + animated particle field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'Light delay as learning gap' philosophy metaphor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Preloads 4 premium fonts (Inter, Garamond, Playfair, SpaceMono)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40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Platform-wide patterns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60520"/>
            <a:ext cx="11338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94A3B8"/>
                </a:solidFill>
              </a:rPr>
              <a:t>▸  Auth-gating — protected pages redirect to sign-in if unauthenticated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94A3B8"/>
                </a:solidFill>
              </a:rPr>
              <a:t>▸  Optimistic updates — UI reflects changes instantly, syncs to backend asynchronously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94A3B8"/>
                </a:solidFill>
              </a:rPr>
              <a:t>▸  Lazy-loaded routes — every page code-split; loaded only on first visit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94A3B8"/>
                </a:solidFill>
              </a:rPr>
              <a:t>▸  Error boundary — React ErrorBoundary prevents full app crashes on component errors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94A3B8"/>
                </a:solidFill>
              </a:rPr>
              <a:t>▸  Sentry monitoring — frontend errors captured with stack traces in production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6AF7"/>
                </a:solidFill>
              </a:rPr>
              <a:t>03 · AI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0"/>
                </a:solidFill>
              </a:rPr>
              <a:t>The AI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</a:rPr>
              <a:t>Provider Abstraction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 unified provider_service abstracts over Anthropic Claude and OpenAI behind a single interface — stream_completion() for SSE and complete_text() for one-shot generation. Token cost is calculated per provider/model and fed into the budget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</a:rPr>
              <a:t>Content Generation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34640"/>
            <a:ext cx="173736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FD1C5"/>
                </a:solidFill>
              </a:rPr>
              <a:t>User 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2834640"/>
            <a:ext cx="173736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2834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FD1C5"/>
                </a:solidFill>
              </a:rPr>
              <a:t>generate_journey()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834640"/>
            <a:ext cx="173736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834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FD1C5"/>
                </a:solidFill>
              </a:rPr>
              <a:t>generate_step_content()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173736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337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FD1C5"/>
                </a:solidFill>
              </a:rPr>
              <a:t>SSE → client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3337560"/>
            <a:ext cx="173736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3337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FD1C5"/>
                </a:solidFill>
              </a:rPr>
              <a:t>extract_knowledge_nodes()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337560"/>
            <a:ext cx="173736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3337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FD1C5"/>
                </a:solidFill>
              </a:rPr>
              <a:t>record_usage()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776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</a:rPr>
              <a:t>Warm-Up Pre-caching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4340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warm_journey_steps() pre-generates step content in the background after Journey creation. Next user request hits cache instead of waiting for LLM — dramatically reducing latency. Cache hits cost ZERO budget tokens.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097280"/>
            <a:ext cx="5486400" cy="3474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097280"/>
            <a:ext cx="5486400" cy="5486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12344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2E8F0"/>
                </a:solidFill>
              </a:rPr>
              <a:t>⚡ Budget Enforcement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1600200"/>
            <a:ext cx="52120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Every AI call gated by check_budget() — returns HTTP 402 if exhausted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Free trial: 6 lifetime messages (chat) OR token budget ≤ $0.20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Paid plans: monthly token budget in cents, configurable per plan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Coupons stack on top of plan base budget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Cache hits are completely free — no budget deducted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cost_for_tokens() calculates exact cost per provider/model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record_usage() writes atomically after each AI response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663440"/>
            <a:ext cx="5486400" cy="1920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4663440"/>
            <a:ext cx="5486400" cy="54864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8006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2E8F0"/>
                </a:solidFill>
              </a:rPr>
              <a:t>🤖 AI-Personalised Notifications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5166360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copy_generator uses the LLM to write notification copy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Email subject lines and WhatsApp messages are unique per user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References the exact topic the user was learning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No static templates — every message is contextual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6AF7"/>
                </a:solidFill>
              </a:rPr>
              <a:t>04 · AUTHENTICATION &amp; CHILD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</a:rPr>
              <a:t>Auth, Age Gates &amp; Family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657600" cy="2331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657600" cy="5486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234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2E8F0"/>
                </a:solidFill>
              </a:rPr>
              <a:t>🔑 Firebase 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0020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Google OAuth via Firebase Authentication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verify_firebase_token() on every protected request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Three guard levels: optional / required / admin-only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Anonymous session IDs for stateless Explore/Spark</a:t>
            </a:r>
          </a:p>
        </p:txBody>
      </p:sp>
      <p:sp>
        <p:nvSpPr>
          <p:cNvPr id="8" name="Rectangle 7"/>
          <p:cNvSpPr/>
          <p:nvPr/>
        </p:nvSpPr>
        <p:spPr>
          <a:xfrm>
            <a:off x="3511735369200" y="1097280"/>
            <a:ext cx="3657600" cy="2331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11735369200" y="1097280"/>
            <a:ext cx="3657600" cy="54864"/>
          </a:xfrm>
          <a:prstGeom prst="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1735533792" y="1234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2E8F0"/>
                </a:solidFill>
              </a:rPr>
              <a:t>🔞 COPPA Age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1735533792" y="160020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Birth year collected at first sign-in (BirthYearGate)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Under-13 blocked immediately (Under13Block component)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Parental consent email dispatched automatically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Account suspended pending parent approval via email link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23470281200" y="1097280"/>
            <a:ext cx="3657600" cy="2331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23470281200" y="1097280"/>
            <a:ext cx="3657600" cy="54864"/>
          </a:xfrm>
          <a:prstGeom prst="rect">
            <a:avLst/>
          </a:prstGeom>
          <a:solidFill>
            <a:srgbClr val="F68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23470445792" y="1234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2E8F0"/>
                </a:solidFill>
              </a:rPr>
              <a:t>👨‍👩‍👧 Teen Consent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3470445792" y="160020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13–17 year olds routed through ConsentConfirm screen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Separate consent confirmation before full access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Email sent to parent; click-through endpoint tracked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Test suite: test_age_verification.py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32125975008"/>
            <a:ext cx="3657600" cy="2331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132125975008"/>
            <a:ext cx="3657600" cy="54864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1321261121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2E8F0"/>
                </a:solidFill>
              </a:rPr>
              <a:t>🌍 Geo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2132126477928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Server-side country detection (Cloudflare headers + ip-api fallback)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Selects payment gateway: Razorpay (India) vs Stripe (global)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Pre-fills WhatsApp country code selector in UI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GeoContext available to all frontend components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11735369200" y="2132125975008"/>
            <a:ext cx="3657600" cy="2331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11735369200" y="2132125975008"/>
            <a:ext cx="3657600" cy="5486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11735533792" y="21321261121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2E8F0"/>
                </a:solidFill>
              </a:rPr>
              <a:t>🔒 Admin Guard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11735533792" y="2132126477928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get_admin_user() dependency — raises HTTP 403 for non-admins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Admin status cached in-memory 60s per UID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Bootstrap script creates first admin account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Admin panel gated behind this dependency on all endpoints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23470281200" y="2132125975008"/>
            <a:ext cx="3657600" cy="2331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23470281200" y="2132125975008"/>
            <a:ext cx="3657600" cy="54864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23470445792" y="21321261121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2E8F0"/>
                </a:solidFill>
              </a:rPr>
              <a:t>🎭 Anonymous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3470445792" y="2132126477928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Unauthenticated users can use Explore and Spark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Session ID for stateless rate-limiting (no login wall)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get_optional_user() allows graceful feature degradation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Converts to full account on Google sign-in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6AF7"/>
                </a:solidFill>
              </a:rPr>
              <a:t>05 · MONETISATION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</a:rPr>
              <a:t>Subscription, Payments &amp; Coupons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</a:rPr>
              <a:t>Plan Tiers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46304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5179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6AF7"/>
                </a:solidFill>
              </a:rPr>
              <a:t>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463040"/>
            <a:ext cx="201168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93392" y="151790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6AF7"/>
                </a:solidFill>
              </a:rPr>
              <a:t>Chat Access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463040"/>
            <a:ext cx="201168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5072" y="151790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6AF7"/>
                </a:solidFill>
              </a:rPr>
              <a:t>AI Budget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463040"/>
            <a:ext cx="137160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16752" y="15179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6AF7"/>
                </a:solidFill>
              </a:rPr>
              <a:t>Journeys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10512"/>
            <a:ext cx="1463040" cy="347472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653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Free Trial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1810512"/>
            <a:ext cx="2011680" cy="347472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93392" y="186537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6 lifetime messages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1810512"/>
            <a:ext cx="2011680" cy="347472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05072" y="186537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Token budget (≤$0.20)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810512"/>
            <a:ext cx="1371600" cy="347472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16752" y="18653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Limited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157984"/>
            <a:ext cx="1463040" cy="347472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2128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Paid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2157984"/>
            <a:ext cx="2011680" cy="347472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93392" y="221284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Unlimited turns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1920" y="2157984"/>
            <a:ext cx="2011680" cy="347472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05072" y="221284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Monthly token budget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2157984"/>
            <a:ext cx="1371600" cy="347472"/>
          </a:xfrm>
          <a:prstGeom prst="rect">
            <a:avLst/>
          </a:prstGeom>
          <a:solidFill>
            <a:srgbClr val="13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16752" y="22128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Full access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505456"/>
            <a:ext cx="1463040" cy="347472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2560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Paid + Coupon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20240" y="2505456"/>
            <a:ext cx="2011680" cy="347472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93392" y="2560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As per plan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31920" y="2505456"/>
            <a:ext cx="2011680" cy="347472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05072" y="2560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Plan + coupon extras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2505456"/>
            <a:ext cx="1371600" cy="347472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16752" y="2560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Full access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657600"/>
            <a:ext cx="5669280" cy="2834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3657600"/>
            <a:ext cx="5669280" cy="5486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37947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2E8F0"/>
                </a:solidFill>
              </a:rPr>
              <a:t>💳 Dual Payment Gateway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4160520"/>
            <a:ext cx="53949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Stripe (global) + Razorpay (India) running simultaneously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Gateway selection automatic based on detected country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create_checkout() → webhook confirms → upsert_subscription()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Stripe webhooks: checkout.session.completed, subscription events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Razorpay webhooks: payment.captured, subscription.charged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Idempotency keys prevent duplicate provisioning on retries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sync_subscription() re-syncs state from Stripe on demand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3657600"/>
            <a:ext cx="5486400" cy="2834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3657600"/>
            <a:ext cx="5486400" cy="54864"/>
          </a:xfrm>
          <a:prstGeom prst="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73952" y="37947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2E8F0"/>
                </a:solidFill>
              </a:rPr>
              <a:t>🎟️ Coupon System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3952" y="4160520"/>
            <a:ext cx="52120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Admin creates coupons with token-budget extensions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Users apply coupons on Pricing page via CouponApply()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Validated and stacked on top of plan base budget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Expired and active coupons tracked separately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Soft-delete preserves audit trail without exposing deleted data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Redemption stats visible in Admin panel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6AF7"/>
                </a:solidFill>
              </a:rPr>
              <a:t>06 · ENGAGEMENT &amp; NOTIFICATIONS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E8F0"/>
                </a:solidFill>
              </a:rPr>
              <a:t>Re-engagement &amp; Notification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657600" cy="2468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657600" cy="5486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234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2E8F0"/>
                </a:solidFill>
              </a:rPr>
              <a:t>📧 Email Notifications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00200"/>
            <a:ext cx="33832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Parental consent, daily spark reminders, journey completion nudges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Mind signature update alerts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One-click unsubscribe with signed token (prevents enumeration)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Open tracking via pixel endpoint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511735369200" y="1097280"/>
            <a:ext cx="3657600" cy="2468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11735369200" y="1097280"/>
            <a:ext cx="3657600" cy="54864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1735533792" y="1234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2E8F0"/>
                </a:solidFill>
              </a:rPr>
              <a:t>💚 WhatsApp (Twilio)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1735533792" y="1600200"/>
            <a:ext cx="33832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Twilio-powered WhatsApp messaging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Users opt in with phone + country code (geo auto-filled)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OTP-style confirmation flow before messages sent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Opt-out from Profile page or one-click unsubscribe link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23470281200" y="1097280"/>
            <a:ext cx="3657600" cy="2468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23470281200" y="1097280"/>
            <a:ext cx="3657600" cy="54864"/>
          </a:xfrm>
          <a:prstGeom prst="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23470445792" y="1234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2E8F0"/>
                </a:solidFill>
              </a:rPr>
              <a:t>⏰ Background Scheduler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3470445792" y="1600200"/>
            <a:ext cx="33832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Persistent in-process background task scheduler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Queues: daily spark, journey completion nudge, mind signature nudge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Respects channel preferences + 'not sent recently' guard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Preferred channel selected per user (email vs WhatsApp)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94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</a:rPr>
              <a:t>Notification Pipeline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60520"/>
            <a:ext cx="530352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160520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1.  Scheduler enqueues event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07992"/>
            <a:ext cx="530352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507992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2.  can_send() — channel gate + recency guard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55464"/>
            <a:ext cx="530352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55464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3.  generate_copy() — AI-personalised message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02936"/>
            <a:ext cx="530352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20293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4.  send_email()  or  send_whatsapp()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50408"/>
            <a:ext cx="530352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550408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5.  track_open() — engagement event recorded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749039"/>
            <a:ext cx="5486400" cy="2743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3749039"/>
            <a:ext cx="5486400" cy="54864"/>
          </a:xfrm>
          <a:prstGeom prst="rect">
            <a:avLst/>
          </a:prstGeom>
          <a:solidFill>
            <a:srgbClr val="F68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388619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2E8F0"/>
                </a:solidFill>
              </a:rPr>
              <a:t>💡 Cliffhanger Re-engagement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4251959"/>
            <a:ext cx="52120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User starts AI chat but doesn't complete it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Backend queues a cliffhanger notification via queue_cliffhanger()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Fires after a delay with AI-written personalised message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References the exact topic the user was learning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No generic reminders — every nudge is contextual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Drives return sessions without feeling like spam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6AF7"/>
                </a:solidFill>
              </a:rPr>
              <a:t>07 · ADMIN &amp;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E8F0"/>
                </a:solidFill>
              </a:rPr>
              <a:t>Admin Panel &amp; Business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657600" cy="2331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657600" cy="5486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234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2E8F0"/>
                </a:solidFill>
              </a:rPr>
              <a:t>📈 Platform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0020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Total users, active users, conversion funnel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Revenue breakdown by plan and payment gateway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Feature usage frequency across all endpoints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Retention cohort data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AI cost analysis (spend per user / per plan)</a:t>
            </a:r>
          </a:p>
        </p:txBody>
      </p:sp>
      <p:sp>
        <p:nvSpPr>
          <p:cNvPr id="8" name="Rectangle 7"/>
          <p:cNvSpPr/>
          <p:nvPr/>
        </p:nvSpPr>
        <p:spPr>
          <a:xfrm>
            <a:off x="3511735369200" y="1097280"/>
            <a:ext cx="3657600" cy="2331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11735369200" y="1097280"/>
            <a:ext cx="3657600" cy="54864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1735533792" y="1234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2E8F0"/>
                </a:solidFill>
              </a:rPr>
              <a:t>💰 Budget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1735533792" y="160020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Live BudgetBar per user in admin view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Usage history per user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Usage breakdown by interaction type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At-risk users flag (approaching budget limit)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Admin can adjust plan configs and token budgets live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23470281200" y="1097280"/>
            <a:ext cx="3657600" cy="2331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23470281200" y="1097280"/>
            <a:ext cx="3657600" cy="54864"/>
          </a:xfrm>
          <a:prstGeom prst="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23470445792" y="1234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2E8F0"/>
                </a:solidFill>
              </a:rPr>
              <a:t>🎟️ Coupon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3470445792" y="160020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Create coupons with custom budget extensions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View active vs expired coupons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Redemption counts and stats (useCouponStats hook)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Soft-delete coupons without data loss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32125975008"/>
            <a:ext cx="3657600" cy="2331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132125975008"/>
            <a:ext cx="3657600" cy="54864"/>
          </a:xfrm>
          <a:prstGeom prst="rect">
            <a:avLst/>
          </a:prstGeom>
          <a:solidFill>
            <a:srgbClr val="F68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1321261121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2E8F0"/>
                </a:solidFill>
              </a:rPr>
              <a:t>👤 User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2132126477928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Full user detail panel with account history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Subscription status + plan info per user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GDPR export &amp; deletion triggers from admin UI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Admin user promotion via bootstrap script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11735369200" y="2132125975008"/>
            <a:ext cx="3657600" cy="2331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11735369200" y="2132125975008"/>
            <a:ext cx="3657600" cy="54864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11735533792" y="21321261121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2E8F0"/>
                </a:solidFill>
              </a:rPr>
              <a:t>🤖 AI Config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11735533792" y="2132126477928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Live-update AI provider settings without redeploy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Switch between Anthropic and OpenAI per feature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Adjust model, temperature, max tokens per endpoint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Config changes persisted in ai_configs DB 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23470281200" y="2132125975008"/>
            <a:ext cx="3657600" cy="2331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23470281200" y="2132125975008"/>
            <a:ext cx="3657600" cy="5486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23470445792" y="21321261121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2E8F0"/>
                </a:solidFill>
              </a:rPr>
              <a:t>📊 Content Stats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3470445792" y="2132126477928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Most-used Journey topics and completion rates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Spark engagement metrics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Knowledge node extraction counts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Mind Signature generation volume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6AF7"/>
                </a:solidFill>
              </a:rPr>
              <a:t>08 · TECHNICAL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0"/>
                </a:solidFill>
              </a:rPr>
              <a:t>Technology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D1C5"/>
                </a:solidFill>
              </a:rPr>
              <a:t>Frontend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5608"/>
            <a:ext cx="5577840" cy="5120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</a:rPr>
              <a:t>Framework: </a:t>
            </a:r>
            <a:r>
              <a:rPr sz="1100">
                <a:solidFill>
                  <a:srgbClr val="94A3B8"/>
                </a:solidFill>
              </a:rPr>
              <a:t>React 18 + TypeScript (Vite)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</a:rPr>
              <a:t>Routing: </a:t>
            </a:r>
            <a:r>
              <a:rPr sz="1100">
                <a:solidFill>
                  <a:srgbClr val="94A3B8"/>
                </a:solidFill>
              </a:rPr>
              <a:t>React Router v6 — lazy-loaded routes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</a:rPr>
              <a:t>Styling: </a:t>
            </a:r>
            <a:r>
              <a:rPr sz="1100">
                <a:solidFill>
                  <a:srgbClr val="94A3B8"/>
                </a:solidFill>
              </a:rPr>
              <a:t>Tailwind CSS + CSS custom properties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</a:rPr>
              <a:t>Auth: </a:t>
            </a:r>
            <a:r>
              <a:rPr sz="1100">
                <a:solidFill>
                  <a:srgbClr val="94A3B8"/>
                </a:solidFill>
              </a:rPr>
              <a:t>Firebase SDK — Google OAuth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</a:rPr>
              <a:t>State: </a:t>
            </a:r>
            <a:r>
              <a:rPr sz="1100">
                <a:solidFill>
                  <a:srgbClr val="94A3B8"/>
                </a:solidFill>
              </a:rPr>
              <a:t>React Context: Auth, Subscription, Geo, Theme, Toast, Payment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</a:rPr>
              <a:t>Visualisation: </a:t>
            </a:r>
            <a:r>
              <a:rPr sz="1100">
                <a:solidFill>
                  <a:srgbClr val="94A3B8"/>
                </a:solidFill>
              </a:rPr>
              <a:t>D3 — Knowledge Universe constellation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</a:rPr>
              <a:t>SEO: </a:t>
            </a:r>
            <a:r>
              <a:rPr sz="1100">
                <a:solidFill>
                  <a:srgbClr val="94A3B8"/>
                </a:solidFill>
              </a:rPr>
              <a:t>react-helmet-async, Open Graph meta, canonical URLs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</a:rPr>
              <a:t>Monitoring: </a:t>
            </a:r>
            <a:r>
              <a:rPr sz="1100">
                <a:solidFill>
                  <a:srgbClr val="94A3B8"/>
                </a:solidFill>
              </a:rPr>
              <a:t>Sentry — error capture + stack traces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</a:rPr>
              <a:t>Icons: </a:t>
            </a:r>
            <a:r>
              <a:rPr sz="1100">
                <a:solidFill>
                  <a:srgbClr val="94A3B8"/>
                </a:solidFill>
              </a:rPr>
              <a:t>Lucide React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</a:rPr>
              <a:t>Build: </a:t>
            </a:r>
            <a:r>
              <a:rPr sz="1100">
                <a:solidFill>
                  <a:srgbClr val="94A3B8"/>
                </a:solidFill>
              </a:rPr>
              <a:t>Vite (dev proxy to Railway API)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</a:rPr>
              <a:t>Deployment: </a:t>
            </a:r>
            <a:r>
              <a:rPr sz="1100">
                <a:solidFill>
                  <a:srgbClr val="94A3B8"/>
                </a:solidFill>
              </a:rPr>
              <a:t>Vercel — edge CDN with prod rewrites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6AF7"/>
                </a:solidFill>
              </a:rPr>
              <a:t>Backend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35608"/>
            <a:ext cx="5577840" cy="5120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087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</a:rPr>
              <a:t>Framework: </a:t>
            </a:r>
            <a:r>
              <a:rPr sz="1100">
                <a:solidFill>
                  <a:srgbClr val="94A3B8"/>
                </a:solidFill>
              </a:rPr>
              <a:t>FastAPI (Python 3.12)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</a:rPr>
              <a:t>Database: </a:t>
            </a:r>
            <a:r>
              <a:rPr sz="1100">
                <a:solidFill>
                  <a:srgbClr val="94A3B8"/>
                </a:solidFill>
              </a:rPr>
              <a:t>PostgreSQL via Supabase + Row-Level Security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</a:rPr>
              <a:t>DB Client: </a:t>
            </a:r>
            <a:r>
              <a:rPr sz="1100">
                <a:solidFill>
                  <a:srgbClr val="94A3B8"/>
                </a:solidFill>
              </a:rPr>
              <a:t>psycopg2 — threaded connection pool, warm-up on startup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</a:rPr>
              <a:t>Auth: </a:t>
            </a:r>
            <a:r>
              <a:rPr sz="1100">
                <a:solidFill>
                  <a:srgbClr val="94A3B8"/>
                </a:solidFill>
              </a:rPr>
              <a:t>Firebase Admin SDK — ID token verification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</a:rPr>
              <a:t>AI: </a:t>
            </a:r>
            <a:r>
              <a:rPr sz="1100">
                <a:solidFill>
                  <a:srgbClr val="94A3B8"/>
                </a:solidFill>
              </a:rPr>
              <a:t>Anthropic Claude API + OpenAI API (provider abstraction)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</a:rPr>
              <a:t>Streaming: </a:t>
            </a:r>
            <a:r>
              <a:rPr sz="1100">
                <a:solidFill>
                  <a:srgbClr val="94A3B8"/>
                </a:solidFill>
              </a:rPr>
              <a:t>Server-Sent Events (SSE) via FastAPI StreamingResponse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</a:rPr>
              <a:t>Payments: </a:t>
            </a:r>
            <a:r>
              <a:rPr sz="1100">
                <a:solidFill>
                  <a:srgbClr val="94A3B8"/>
                </a:solidFill>
              </a:rPr>
              <a:t>Stripe SDK + Razorpay SDK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</a:rPr>
              <a:t>Messaging: </a:t>
            </a:r>
            <a:r>
              <a:rPr sz="1100">
                <a:solidFill>
                  <a:srgbClr val="94A3B8"/>
                </a:solidFill>
              </a:rPr>
              <a:t>Twilio (WhatsApp) + SMTP (transactional email)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</a:rPr>
              <a:t>Scheduler: </a:t>
            </a:r>
            <a:r>
              <a:rPr sz="1100">
                <a:solidFill>
                  <a:srgbClr val="94A3B8"/>
                </a:solidFill>
              </a:rPr>
              <a:t>Custom in-process background task scheduler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</a:rPr>
              <a:t>Logging: </a:t>
            </a:r>
            <a:r>
              <a:rPr sz="1100">
                <a:solidFill>
                  <a:srgbClr val="94A3B8"/>
                </a:solidFill>
              </a:rPr>
              <a:t>Structured JSON logging (logging_config.py)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</a:rPr>
              <a:t>Testing: </a:t>
            </a:r>
            <a:r>
              <a:rPr sz="1100">
                <a:solidFill>
                  <a:srgbClr val="94A3B8"/>
                </a:solidFill>
              </a:rPr>
              <a:t>pytest + httpx — integration &amp; unit tests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E2E8F0"/>
                </a:solidFill>
              </a:rPr>
              <a:t>Deployment: </a:t>
            </a:r>
            <a:r>
              <a:rPr sz="1100">
                <a:solidFill>
                  <a:srgbClr val="94A3B8"/>
                </a:solidFill>
              </a:rPr>
              <a:t>Railway — Docker container, always-on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6AF7"/>
                </a:solidFill>
              </a:rPr>
              <a:t>09 · ARCHITECTURE &amp;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0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</a:rPr>
              <a:t>Request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8288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6AF7"/>
                </a:solidFill>
              </a:rPr>
              <a:t>User 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5819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Vercel CDN edge — static SPA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965960"/>
            <a:ext cx="91440" cy="14630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12264"/>
            <a:ext cx="18288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1226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D1C5"/>
                </a:solidFill>
              </a:rPr>
              <a:t>React SPA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18541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Lazy routes + Context provider tree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569464"/>
            <a:ext cx="91440" cy="14630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15768"/>
            <a:ext cx="18288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157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api.ts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788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Attaches Firebase ID token to every request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3172968"/>
            <a:ext cx="91440" cy="14630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319272"/>
            <a:ext cx="18288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3192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Vercel rewrite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39242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Proxies /api/* to Railway HTTPS endpoint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3776472"/>
            <a:ext cx="91440" cy="14630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922776"/>
            <a:ext cx="18288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2277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6AF7"/>
                </a:solidFill>
              </a:rPr>
              <a:t>FastAPI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39959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Auth guard → route handler → service layer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4379976"/>
            <a:ext cx="91440" cy="14630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526280"/>
            <a:ext cx="18288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D1C5"/>
                </a:solidFill>
              </a:rPr>
              <a:t>DB Pool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45994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psycopg2 ThreadedPool → Supabase PostgreSQL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4983480"/>
            <a:ext cx="91440" cy="14630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129783"/>
            <a:ext cx="18288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129783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687B3"/>
                </a:solidFill>
              </a:rPr>
              <a:t>AI Provider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5202935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Anthropic / OpenAI → SSE stream → browser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1097280"/>
            <a:ext cx="5486400" cy="2834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1097280"/>
            <a:ext cx="5486400" cy="54864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3952" y="12344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2E8F0"/>
                </a:solidFill>
              </a:rPr>
              <a:t>⚡ Performance Patterns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1600200"/>
            <a:ext cx="52120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Optimistic UI — step toggles update instantly, sync asynchronously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Lazy routes — every page code-split, loaded on first visit only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Content cache — step content pre-warmed, served free of charge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Admin cache — 60s in-memory TTL on auth permission checks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DB pool warm-up — all connections created at startup, not first request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Manual scroll restore — SPA preserves scroll position on navigation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069080"/>
            <a:ext cx="5486400" cy="2377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4069080"/>
            <a:ext cx="5486400" cy="54864"/>
          </a:xfrm>
          <a:prstGeom prst="rect">
            <a:avLst/>
          </a:prstGeom>
          <a:solidFill>
            <a:srgbClr val="FC8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3952" y="4206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2E8F0"/>
                </a:solidFill>
              </a:rPr>
              <a:t>🛡️ Error Handling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3952" y="457200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All HTTPExceptions logged with detail before returning to client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Catch-all handler returns JSON 500 with correct CORS headers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React ErrorBoundary prevents white-screen crashes in frontend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Sentry captures frontend errors with full stack traces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SSE stream errors handled gracefully with client reconnect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6AF7"/>
                </a:solidFill>
              </a:rPr>
              <a:t>10 · COMPLIANCE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E8F0"/>
                </a:solidFill>
              </a:rPr>
              <a:t>Regulatory Compliance &amp;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669280" cy="2468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669280" cy="54864"/>
          </a:xfrm>
          <a:prstGeom prst="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2344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2E8F0"/>
                </a:solidFill>
              </a:rPr>
              <a:t>🇺🇸 COPPA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00200"/>
            <a:ext cx="53949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Birth year collected at account creation (BirthYearGate)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Under-13 users blocked immediately (Under13Block)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Parental consent email dispatched via send_parental_consent_email()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Consent tracked; account activated only after parent approval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Teen (13–17) routed through additional ConsentConfirm screen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Test suite: test_age_verification.py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34828297200" y="1097280"/>
            <a:ext cx="5669280" cy="2468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34828297200" y="1097280"/>
            <a:ext cx="5669280" cy="54864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34828461792" y="12344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2E8F0"/>
                </a:solidFill>
              </a:rPr>
              <a:t>🇪🇺 GDPR Data Rights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34828461792" y="1600200"/>
            <a:ext cx="53949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Right to export — export_account() packages all user data as JSON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Right to erasure — delete_account() hard-deletes all records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Privacy Policy, Terms of Service, Parents pages published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Email unsubscribe uses signed tokens (not user IDs)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Test suite: test_gdpr.py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82964073280"/>
            <a:ext cx="5669280" cy="2468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382964073280"/>
            <a:ext cx="5669280" cy="5486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3829642104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2E8F0"/>
                </a:solidFill>
              </a:rPr>
              <a:t>🔐 API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382964576200"/>
            <a:ext cx="53949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All endpoints protected by Firebase ID token verification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Admin endpoints gated by get_admin_user() dependency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Chat injection defense pattern in chat_service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Stripe webhook: HMAC signature verified before processing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Razorpay payment: signature verified before subscription activation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34828297200" y="2382964073280"/>
            <a:ext cx="5669280" cy="2468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34828297200" y="2382964073280"/>
            <a:ext cx="5669280" cy="54864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34828461792" y="23829642104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2E8F0"/>
                </a:solidFill>
              </a:rPr>
              <a:t>🏗️ Database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34828461792" y="2382964576200"/>
            <a:ext cx="53949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Supabase Row-Level Security (RLS) enforced at DB layer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All queries use parameterised statements — no interpolation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Connection credentials loaded from environment variables only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Sensitive fields (tokens, keys) never appear in logs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Coupon soft-delete preserves audit trail without leaking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6AF7"/>
                </a:solidFill>
              </a:rPr>
              <a:t>11 · QUALITY &amp;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0"/>
                </a:solidFill>
              </a:rPr>
              <a:t>Test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66928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669280" cy="5486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2344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2E8F0"/>
                </a:solidFill>
              </a:rPr>
              <a:t>🧪 Unit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00200"/>
            <a:ext cx="5394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test_budget.py — token budget logic, free trial exhaustion, coupon stacking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test_coupons.py — expired vs active coupon counting, mixed states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test_age_verification.py — COPPA under-13 detection, edge birth years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test_gdpr.py — data export and account deletion endpoints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097280"/>
            <a:ext cx="548640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097280"/>
            <a:ext cx="5486400" cy="54864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2344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2E8F0"/>
                </a:solidFill>
              </a:rPr>
              <a:t>🔗 Integration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00200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test_api_budget.py — full HTTP layer tests via httpx test client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Covers: cache hits, budget gate (402), explore, chat stream, coupon apply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Admin endpoint coverage: stats, user detail, coupon admin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</a:rPr>
              <a:t>▸  Shared conftest.py: mock_db, usage(), extras(), authenticated + anon clients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</a:rPr>
              <a:t>Key Scenarios Verified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11338560" cy="3108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96849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BB78"/>
                </a:solidFill>
              </a:rPr>
              <a:t>✅  Cache hit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968496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Budget is NOT deducted — cached content is always free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79392"/>
            <a:ext cx="11338560" cy="310896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3159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BB78"/>
                </a:solidFill>
              </a:rPr>
              <a:t>✅  Cache miss + exhausted budget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31596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Returns HTTP 402 with structured error payload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26864"/>
            <a:ext cx="11338560" cy="3108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6634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BB78"/>
                </a:solidFill>
              </a:rPr>
              <a:t>✅  Free trial message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6634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Blocks at 6 lifetime messages in chat context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974336"/>
            <a:ext cx="11338560" cy="310896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0109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BB78"/>
                </a:solidFill>
              </a:rPr>
              <a:t>✅  Coupon budget extension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501091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Coupon extras stack on top of base plan budget correctly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321808"/>
            <a:ext cx="11338560" cy="3108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35838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BB78"/>
                </a:solidFill>
              </a:rPr>
              <a:t>✅  Admin-only endpoint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535838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Returns HTTP 403 for authenticated non-admin users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669279"/>
            <a:ext cx="11338560" cy="310896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70585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BB78"/>
                </a:solidFill>
              </a:rPr>
              <a:t>✅  COPPA age 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5705855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Under-13 birth year triggers block + consent email on upsert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016752"/>
            <a:ext cx="11338560" cy="3108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05332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BB78"/>
                </a:solidFill>
              </a:rPr>
              <a:t>✅  GDPR delete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60533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All user records hard-deleted across tables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364224"/>
            <a:ext cx="11338560" cy="310896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400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BB78"/>
                </a:solidFill>
              </a:rPr>
              <a:t>✅  Razorpay signature 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64008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Invalid signature rejected before subscription activation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6AF7"/>
                </a:solidFill>
              </a:rPr>
              <a:t>12 ·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0"/>
                </a:solidFill>
              </a:rPr>
              <a:t>In-Progress &amp; Planned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669280" cy="2423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669280" cy="54864"/>
          </a:xfrm>
          <a:prstGeom prst="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07008"/>
            <a:ext cx="329184" cy="329184"/>
          </a:xfrm>
          <a:prstGeom prst="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2E8F0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2070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Journey UX Overhaul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2070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6AD55"/>
                </a:solidFill>
              </a:rPr>
              <a:t>In 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60020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▸  Full redesign of the Journey page experience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▸  New step layout, progress visualisation, completion celebration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▸  4-phase implementation plan drafted June 2026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▸  Plans in: backend/plans/journey-ux-overhaul/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097280"/>
            <a:ext cx="5669280" cy="2423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097280"/>
            <a:ext cx="5669280" cy="54864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207008"/>
            <a:ext cx="329184" cy="329184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188720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2E8F0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2070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Mobile Responsiveness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12070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FD1C5"/>
                </a:solidFill>
              </a:rPr>
              <a:t>Audited — 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160020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▸  Full mobile audit completed June 2026 across all 14 pages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▸  4-phase plan in: backend/plans/mobile-responsiveness/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▸  All breakpoints and component issues documented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▸  Implementation not yet started — ready to begin sprint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5669280" cy="2423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749039"/>
            <a:ext cx="5669280" cy="5486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858767"/>
            <a:ext cx="329184" cy="32918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840479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2E8F0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85876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Admin Panel Modularisation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858767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7C6AF7"/>
                </a:solidFill>
              </a:rPr>
              <a:t>Planned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4251959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▸  Admin.tsx monolith split into modular tabs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▸  Shared UI primitives: StatCard, BudgetBar, SimpleBarChart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▸  Custom hooks: useAdminData, useCouponStats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▸  Option B: AdminContext for cross-tab state sharing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749039"/>
            <a:ext cx="5669280" cy="2423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3749039"/>
            <a:ext cx="5669280" cy="54864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3858767"/>
            <a:ext cx="329184" cy="329184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840479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2E8F0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85876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Future Capabilities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3858767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8BB78"/>
                </a:solidFill>
              </a:rPr>
              <a:t>Backlog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4251959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▸  Social sharing for Mind Signature and Passport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▸  Group / classroom mode for family plans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▸  Offline-capable PWA (service worker + cache)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▸  Knowledge Universe 3D visualisation upgrade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6AF7"/>
                </a:solidFill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</a:rPr>
              <a:t>Why ECALT is Production-Ready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743200" cy="1325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43200" cy="4572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🏗️ Solid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2763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Clean separation: React SPA → FastAPI services → Supabase Postgres. Provider abstraction allows hot-swapping AI models with zero code changes.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2330464960" y="1188720"/>
            <a:ext cx="2743200" cy="1325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92330464960" y="1188720"/>
            <a:ext cx="2743200" cy="45720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2330556400" y="1280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💸 AI Cost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2330556400" y="162763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Token budget enforcement with cent-level precision. Cache-first delivery. Coupon-stackable budget extensions. Every AI call metered.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84660564160" y="1188720"/>
            <a:ext cx="2743200" cy="1325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84660564160" y="1188720"/>
            <a:ext cx="2743200" cy="45720"/>
          </a:xfrm>
          <a:prstGeom prst="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84660655600" y="1280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🛡️ Compliance Built-In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84660655600" y="162763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COPPA age gating, GDPR data rights, parental consent email, signed unsubscribe tokens — all implemented and unit-tested.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6990663360" y="1188720"/>
            <a:ext cx="2743200" cy="1325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6990663360" y="1188720"/>
            <a:ext cx="2743200" cy="45720"/>
          </a:xfrm>
          <a:prstGeom prst="rect">
            <a:avLst/>
          </a:prstGeom>
          <a:solidFill>
            <a:srgbClr val="F68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6990754800" y="1280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🌍 Global + India 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6990754800" y="162763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Dual Stripe/Razorpay with geo-detection. WhatsApp notifications for markets where email engagement is low.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362888785520"/>
            <a:ext cx="2743200" cy="1325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1362888785520"/>
            <a:ext cx="2743200" cy="4572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1362888876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🤖 Multi-Model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36288922443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Anthropic Claude + OpenAI behind a single abstraction. Live-switchable per feature via Admin panel without redeployment.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92330464960" y="1362888785520"/>
            <a:ext cx="2743200" cy="1325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92330464960" y="1362888785520"/>
            <a:ext cx="2743200" cy="4572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92330556400" y="1362888876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📣 Retention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2330556400" y="136288922443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Cliffhanger re-engagement, daily sparks, AI-personalised notification copy, background scheduler-driven nudges.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84660564160" y="1362888785520"/>
            <a:ext cx="2743200" cy="1325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84660564160" y="1362888785520"/>
            <a:ext cx="2743200" cy="45720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84660655600" y="1362888876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🧪 Tested &amp; Verified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84660655600" y="136288922443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Integration tests cover the full HTTP budget enforcement path. Unit tests for COPPA, GDPR, coupons, and budget logic.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76990663360" y="1362888785520"/>
            <a:ext cx="2743200" cy="1325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76990663360" y="1362888785520"/>
            <a:ext cx="2743200" cy="45720"/>
          </a:xfrm>
          <a:prstGeom prst="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76990754800" y="1362888876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🚀 Modern Deploy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76990754800" y="136288922443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Vercel CDN for frontend. Railway for always-on API. Structured JSON logging. Zero-downtime deployments.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355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2D45"/>
                </a:solidFill>
              </a:rPr>
              <a:t>Generated from live codebase via graphify knowledge graph analysis
Frontend: 581 nodes · 1059 edges    Backend: 727 nodes · 1475 edges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